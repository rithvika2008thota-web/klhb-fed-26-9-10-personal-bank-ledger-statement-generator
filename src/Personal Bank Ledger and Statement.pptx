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Plus Jakarta Sans"/>
      <ns0:bold ns1:id="rIdFont18"/>
      <ns0:regular ns1:id="rIdFont19"/>
    </ns0:embeddedFont>
    <ns0:embeddedFont>
      <ns0:font typeface="Fira Code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01f70a0b-6b33-4a59-bc61-4fd61bacb55c.fntdata" /><ns0:Relationship Id="rIdFont19" Type="http://schemas.openxmlformats.org/officeDocument/2006/relationships/font" Target="fonts/8668fb87-2627-4aa0-956b-b8495a88cd07.fntdata" /><ns0:Relationship Id="rIdFont20" Type="http://schemas.openxmlformats.org/officeDocument/2006/relationships/font" Target="fonts/a0533b0d-a345-4317-8299-e16b56291a7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F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828800" y="685800"/>
            <a:ext cx="4286250" cy="4286250"/>
          </a:xfrm>
          <a:prstGeom prst="round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53200" y="23622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20530" y="1277391"/>
            <a:ext cx="2750939" cy="266700"/>
          </a:xfrm>
          <a:prstGeom prst="roundRect">
            <a:avLst>
              <a:gd name="adj" fmla="val 50000"/>
            </a:avLst>
          </a:prstGeom>
          <a:solidFill>
            <a:srgbClr val="1F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09750" y="1848891"/>
            <a:ext cx="8572500" cy="1226641"/>
          </a:xfrm>
          <a:prstGeom prst="rect">
            <a:avLst/>
          </a:prstGeom>
          <a:solidFill>
            <a:srgbClr val="CAD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5162" y="4332833"/>
            <a:ext cx="2466975" cy="733425"/>
          </a:xfrm>
          <a:prstGeom prst="roundRect">
            <a:avLst>
              <a:gd name="adj" fmla="val 25974"/>
            </a:avLst>
          </a:prstGeom>
          <a:solidFill>
            <a:srgbClr val="1B2638"/>
          </a:solidFill>
          <a:ln w="9525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53137" y="4332833"/>
            <a:ext cx="2933700" cy="733425"/>
          </a:xfrm>
          <a:prstGeom prst="roundRect">
            <a:avLst>
              <a:gd name="adj" fmla="val 25974"/>
            </a:avLst>
          </a:prstGeom>
          <a:solidFill>
            <a:srgbClr val="1B2638"/>
          </a:solidFill>
          <a:ln w="9525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0013" y="1334541"/>
            <a:ext cx="3171973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0A5FA"/>
                </a:solidFill>
                <a:latin typeface="Plus Jakarta Sans"/>
              </a:rPr>
              <a:t>B.TECH JAVA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296" y="1848891"/>
            <a:ext cx="11251406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Personal Bank Ledger and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187" y="3304133"/>
            <a:ext cx="107156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Demonstrating how Weeks 1–6 Java programming concepts power a fully functional financial tracking system.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187" y="5409158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KL University • Department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1387" y="4494758"/>
            <a:ext cx="2393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TEAM MEMBER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387" y="4685258"/>
            <a:ext cx="23931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2620030013 - Rithvika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9362" y="4494758"/>
            <a:ext cx="2976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0A5FA"/>
                </a:solidFill>
                <a:latin typeface="Plus Jakarta Sans"/>
              </a:rPr>
              <a:t>TEAM MEMBER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9362" y="4685258"/>
            <a:ext cx="2976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2620030263 - KrishnaShree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613594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981200"/>
            <a:ext cx="3505200" cy="4343400"/>
          </a:xfrm>
          <a:prstGeom prst="roundRect">
            <a:avLst>
              <a:gd name="adj" fmla="val 5434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981200"/>
            <a:ext cx="3505200" cy="4343400"/>
          </a:xfrm>
          <a:prstGeom prst="roundRect">
            <a:avLst>
              <a:gd name="adj" fmla="val 5434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981200"/>
            <a:ext cx="3505200" cy="4343400"/>
          </a:xfrm>
          <a:prstGeom prst="roundRect">
            <a:avLst>
              <a:gd name="adj" fmla="val 5434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386137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257550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3257550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650" y="350996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450" y="338137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338137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950" y="590550"/>
            <a:ext cx="144214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Why a Personal Bank Ledger?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Transforming foundational programming principles into real-world personal finance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052887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Financial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405312"/>
            <a:ext cx="3048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Track daily deposits and withdrawals with absolute precision and clarity.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3924300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Overdraft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427672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Robust conditional checks safeguard account balance from unauthorized deficits.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924300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Automated Statements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4276725"/>
            <a:ext cx="3048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Generate formatted monthly summaries and balance histories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958875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38487"/>
            <a:ext cx="3505200" cy="2028825"/>
          </a:xfrm>
          <a:prstGeom prst="roundRect">
            <a:avLst>
              <a:gd name="adj" fmla="val 9389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3248025"/>
            <a:ext cx="3505200" cy="1809750"/>
          </a:xfrm>
          <a:prstGeom prst="roundRect">
            <a:avLst>
              <a:gd name="adj" fmla="val 10526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3248025"/>
            <a:ext cx="3505200" cy="1809750"/>
          </a:xfrm>
          <a:prstGeom prst="roundRect">
            <a:avLst>
              <a:gd name="adj" fmla="val 10526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452812"/>
            <a:ext cx="1333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562350"/>
            <a:ext cx="1333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3562350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819525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371975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4705350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392906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4262437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9625" y="4595812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3929062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262437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425" y="4595812"/>
            <a:ext cx="152400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2950" y="590550"/>
            <a:ext cx="17874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SPECIFICATION CHARTER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Defining the Banking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Nailing down inputs, outputs, and edge cases before a single line of Java is written.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3414712"/>
            <a:ext cx="3875484" cy="21907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3524250"/>
            <a:ext cx="3875484" cy="219075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3524250"/>
            <a:ext cx="3838575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Plus Jakarta Sans"/>
              </a:rPr>
              <a:t>Edge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786187"/>
            <a:ext cx="30480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Transaction type (Deposit/Withdraw)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4338637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Transaction amount (double)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4672012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Account holder name &amp;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9625" y="3895725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Updated account 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9625" y="4229100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Formatted ledger statement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9625" y="4562475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Success / error messages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3425" y="3895725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Withdrawal exceeding 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3425" y="4229100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Negative deposit amounts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3425" y="4562475"/>
            <a:ext cx="369093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Empty ledger statement print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337816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05150"/>
            <a:ext cx="2571750" cy="2095500"/>
          </a:xfrm>
          <a:prstGeom prst="roundRect">
            <a:avLst>
              <a:gd name="adj" fmla="val 9090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09950" y="3105150"/>
            <a:ext cx="2571750" cy="2095500"/>
          </a:xfrm>
          <a:prstGeom prst="roundRect">
            <a:avLst>
              <a:gd name="adj" fmla="val 9090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105150"/>
            <a:ext cx="2571750" cy="2095500"/>
          </a:xfrm>
          <a:prstGeom prst="roundRect">
            <a:avLst>
              <a:gd name="adj" fmla="val 9090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10650" y="3105150"/>
            <a:ext cx="2571750" cy="2095500"/>
          </a:xfrm>
          <a:prstGeom prst="roundRect">
            <a:avLst>
              <a:gd name="adj" fmla="val 9090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590550"/>
            <a:ext cx="11663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WEEK 1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Computational Thinking in Banking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Applying the four pillars to structure financial transactions systematically.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81375"/>
            <a:ext cx="2524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2905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124325"/>
            <a:ext cx="2114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Break ledger management into intake, balance update, validation, and statement printing.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381375"/>
            <a:ext cx="2524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382905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Pattern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6175" y="4124325"/>
            <a:ext cx="2114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Every transaction follows identical validation and computation steps across accounts.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381375"/>
            <a:ext cx="2524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82905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Abstraction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124325"/>
            <a:ext cx="2114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Ignore physical currency notes; model accounts purely by account ID, owner, and balance.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6875" y="3381375"/>
            <a:ext cx="25241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Plus Jakarta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6875" y="3829050"/>
            <a:ext cx="26503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Algorithm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6875" y="4124325"/>
            <a:ext cx="21145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Write exact step-by-step pseudocode and trace tables to test balance calculations.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366391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96641"/>
            <a:ext cx="5768726" cy="2512516"/>
          </a:xfrm>
          <a:prstGeom prst="roundRect">
            <a:avLst>
              <a:gd name="adj" fmla="val 7582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83126" y="2871787"/>
            <a:ext cx="4899273" cy="2562225"/>
          </a:xfrm>
          <a:prstGeom prst="roundRect">
            <a:avLst>
              <a:gd name="adj" fmla="val 7434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563391"/>
            <a:ext cx="5216276" cy="1569541"/>
          </a:xfrm>
          <a:prstGeom prst="roundRect">
            <a:avLst>
              <a:gd name="adj" fmla="val 84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51" y="3571875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51" y="4162425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51" y="4752975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590550"/>
            <a:ext cx="11949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WEEK 2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 Types &amp; Formatted Currency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Handling monetary precision with double primitives, Scanner, and printf.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172866"/>
            <a:ext cx="68463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Currency Statement Shell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753891"/>
            <a:ext cx="4930526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0A5FA"/>
                </a:solidFill>
                <a:latin typeface="Fira Code"/>
              </a:rPr>
              <a:t>double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balance = 5000.00;</a:t>
            </a:r>
            <a:r>
              <a:t>
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Scanner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sc = </a:t>
            </a:r>
            <a:r>
              <a:rPr b="0" sz="975" i="0" u="none">
                <a:solidFill>
                  <a:srgbClr val="F43F5E"/>
                </a:solidFill>
                <a:latin typeface="Fira Code"/>
              </a:rPr>
              <a:t>new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Scanner(System.in);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System.out.print(</a:t>
            </a:r>
            <a:r>
              <a:rPr b="0" sz="975" i="0" u="none">
                <a:solidFill>
                  <a:srgbClr val="34D399"/>
                </a:solidFill>
                <a:latin typeface="Fira Code"/>
              </a:rPr>
              <a:t>"Enter deposit: "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);</a:t>
            </a:r>
            <a:r>
              <a:t>
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double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deposit = sc.nextDouble();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balance += deposit;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System.out.printf(</a:t>
            </a:r>
            <a:r>
              <a:rPr b="0" sz="975" i="0" u="none">
                <a:solidFill>
                  <a:srgbClr val="34D399"/>
                </a:solidFill>
                <a:latin typeface="Fira Code"/>
              </a:rPr>
              <a:t>"New Balance: Rs %.2f%n"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, balance);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3148012"/>
            <a:ext cx="52326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Why This Matters for 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9351" y="3538537"/>
            <a:ext cx="4442073" cy="438150"/>
          </a:xfrm>
          <a:prstGeom prst="rect">
            <a:avLst/>
          </a:prstGeom>
          <a:noFill/>
        </p:spPr>
        <p:txBody>
          <a:bodyPr wrap="square" lIns="159067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Precise storage for paisa and rupee amounts.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9351" y="4129087"/>
            <a:ext cx="4442073" cy="438150"/>
          </a:xfrm>
          <a:prstGeom prst="rect">
            <a:avLst/>
          </a:prstGeom>
          <a:noFill/>
        </p:spPr>
        <p:txBody>
          <a:bodyPr wrap="square" lIns="11811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Seamless capture of user transaction inputs.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351" y="4719637"/>
            <a:ext cx="4442073" cy="438150"/>
          </a:xfrm>
          <a:prstGeom prst="rect">
            <a:avLst/>
          </a:prstGeom>
          <a:noFill/>
        </p:spPr>
        <p:txBody>
          <a:bodyPr wrap="square" lIns="1028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Flawless decimal alignment for bank statements.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366391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25216"/>
            <a:ext cx="3505200" cy="2455366"/>
          </a:xfrm>
          <a:prstGeom prst="roundRect">
            <a:avLst>
              <a:gd name="adj" fmla="val 7758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849016"/>
            <a:ext cx="3505200" cy="2607766"/>
          </a:xfrm>
          <a:prstGeom prst="roundRect">
            <a:avLst>
              <a:gd name="adj" fmla="val 7305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3077616"/>
            <a:ext cx="3505200" cy="2150566"/>
          </a:xfrm>
          <a:prstGeom prst="roundRect">
            <a:avLst>
              <a:gd name="adj" fmla="val 8858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418558"/>
            <a:ext cx="2952750" cy="685800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9625" y="4342358"/>
            <a:ext cx="2952750" cy="838200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53425" y="4570958"/>
            <a:ext cx="29527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590550"/>
            <a:ext cx="11949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WEEK 3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Selection Logic: Safeguarding Balances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Using if-else ladders and switch statements to control transaction approvals.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01441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Withdrawal Guard (if / else)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534816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Verifies sufficient funds before dispensing cash, preventing unauthorized overdrafts.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453285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Fira Code"/>
              </a:rPr>
              <a:t>if (amount &lt;= balance) { balance -= amount; }</a:t>
            </a:r>
            <a:r>
              <a:t>
</a:t>
            </a:r>
            <a:r>
              <a:rPr b="0" sz="900" i="0" u="none">
                <a:solidFill>
                  <a:srgbClr val="334155"/>
                </a:solidFill>
                <a:latin typeface="Fira Code"/>
              </a:rPr>
              <a:t> else { print("Insufficient Funds");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125241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Account Status (switch)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458616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Routes account tiers (Savings, Current, Fixed Deposit) to respective interest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2025" y="4456658"/>
            <a:ext cx="274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Fira Code"/>
              </a:rPr>
              <a:t>switch(tier) {</a:t>
            </a:r>
            <a:r>
              <a:t>
</a:t>
            </a:r>
            <a:r>
              <a:rPr b="0" sz="900" i="0" u="none">
                <a:solidFill>
                  <a:srgbClr val="334155"/>
                </a:solidFill>
                <a:latin typeface="Fira Code"/>
              </a:rPr>
              <a:t>   case 'S': rate = 0.04; break;</a:t>
            </a:r>
            <a:r>
              <a:t>
</a:t>
            </a:r>
            <a:r>
              <a:rPr b="0" sz="900" i="0" u="none">
                <a:solidFill>
                  <a:srgbClr val="334155"/>
                </a:solidFill>
                <a:latin typeface="Fira Code"/>
              </a:rPr>
              <a:t>   case 'C': rate = 0.01; break;</a:t>
            </a:r>
            <a:r>
              <a:t>
</a:t>
            </a:r>
            <a:r>
              <a:rPr b="0" sz="900" i="0" u="none">
                <a:solidFill>
                  <a:srgbClr val="334155"/>
                </a:solidFill>
                <a:latin typeface="Fira Code"/>
              </a:rPr>
              <a:t>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353841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Plus Jakarta Sans"/>
              </a:rPr>
              <a:t>Short-Circuit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687216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Protects against null account objects and invalid transaction states safely using &amp;&amp;.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825" y="4685258"/>
            <a:ext cx="2743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34155"/>
                </a:solidFill>
                <a:latin typeface="Fira Code"/>
              </a:rPr>
              <a:t>if (acc != &amp;&amp; acc.isActive()) { ...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375916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96641"/>
            <a:ext cx="5768726" cy="2512516"/>
          </a:xfrm>
          <a:prstGeom prst="roundRect">
            <a:avLst>
              <a:gd name="adj" fmla="val 7582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83126" y="3090862"/>
            <a:ext cx="4899273" cy="2124075"/>
          </a:xfrm>
          <a:prstGeom prst="roundRect">
            <a:avLst>
              <a:gd name="adj" fmla="val 8968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563391"/>
            <a:ext cx="5216276" cy="1569541"/>
          </a:xfrm>
          <a:prstGeom prst="roundRect">
            <a:avLst>
              <a:gd name="adj" fmla="val 84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51" y="3790950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351" y="4381500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351" y="4752975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590550"/>
            <a:ext cx="120446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WEEK 4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Iteration: Continuous Banking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Sentinel-controlled menu loops keeping the ledger session active until exit.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172866"/>
            <a:ext cx="68463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Interactive Banking Menu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753891"/>
            <a:ext cx="4930526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E2E8F0"/>
                </a:solidFill>
                <a:latin typeface="Fira Code"/>
              </a:rPr>
              <a:t>String choice = </a:t>
            </a:r>
            <a:r>
              <a:rPr b="0" sz="975" i="0" u="none">
                <a:solidFill>
                  <a:srgbClr val="34D399"/>
                </a:solidFill>
                <a:latin typeface="Fira Code"/>
              </a:rPr>
              <a:t>""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;</a:t>
            </a:r>
            <a:r>
              <a:t>
</a:t>
            </a:r>
            <a:r>
              <a:rPr b="0" sz="975" i="0" u="none">
                <a:solidFill>
                  <a:srgbClr val="F43F5E"/>
                </a:solidFill>
                <a:latin typeface="Fira Code"/>
              </a:rPr>
              <a:t>while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(!choice.equals(</a:t>
            </a:r>
            <a:r>
              <a:rPr b="0" sz="975" i="0" u="none">
                <a:solidFill>
                  <a:srgbClr val="34D399"/>
                </a:solidFill>
                <a:latin typeface="Fira Code"/>
              </a:rPr>
              <a:t>"exit"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))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  System.out.println(</a:t>
            </a:r>
            <a:r>
              <a:rPr b="0" sz="975" i="0" u="none">
                <a:solidFill>
                  <a:srgbClr val="34D399"/>
                </a:solidFill>
                <a:latin typeface="Fira Code"/>
              </a:rPr>
              <a:t>"1. Deposit 2. Withdraw 3. Statement"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  choice = sc.next();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  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// process transaction...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3367087"/>
            <a:ext cx="52326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Why Iteration Powers Ledgers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9351" y="3757612"/>
            <a:ext cx="4442073" cy="438150"/>
          </a:xfrm>
          <a:prstGeom prst="rect">
            <a:avLst/>
          </a:prstGeom>
          <a:noFill/>
        </p:spPr>
        <p:txBody>
          <a:bodyPr wrap="squar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Processes dozens of daily transactions without restarting.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9351" y="4348162"/>
            <a:ext cx="5232648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Sentinel values provide clean session termination.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351" y="4719637"/>
            <a:ext cx="5232648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Input validation loops prevent malformed entries.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366391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344316"/>
            <a:ext cx="3505200" cy="1617166"/>
          </a:xfrm>
          <a:prstGeom prst="roundRect">
            <a:avLst>
              <a:gd name="adj" fmla="val 11779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3344316"/>
            <a:ext cx="3505200" cy="1617166"/>
          </a:xfrm>
          <a:prstGeom prst="roundRect">
            <a:avLst>
              <a:gd name="adj" fmla="val 11779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3344316"/>
            <a:ext cx="3505200" cy="1617166"/>
          </a:xfrm>
          <a:prstGeom prst="roundRect">
            <a:avLst>
              <a:gd name="adj" fmla="val 11779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2950" y="590550"/>
            <a:ext cx="11949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WEEK 5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Methods &amp; Modular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Breaking down ledger logic into clean, reusable functions and checksums.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20541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563EB"/>
                </a:solidFill>
                <a:latin typeface="Plus Jakarta Sans"/>
              </a:rPr>
              <a:t>Modular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53916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Extracting complex logic into specialized methods like deposit(), withdraw(), and printStatement().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20541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59669"/>
                </a:solidFill>
                <a:latin typeface="Plus Jakarta Sans"/>
              </a:rPr>
              <a:t>Pass-by-Value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53916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Primitive amounts are copied into methods, ensuring balances cannot be mutated accidentally.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20541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D97706"/>
                </a:solidFill>
                <a:latin typeface="Plus Jakarta Sans"/>
              </a:rPr>
              <a:t>Recursive Checksum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53916"/>
            <a:ext cx="3048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Validates account numbers and transaction IDs using recursive digit summing algorithms.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366391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95612"/>
            <a:ext cx="5768726" cy="2314426"/>
          </a:xfrm>
          <a:prstGeom prst="roundRect">
            <a:avLst>
              <a:gd name="adj" fmla="val 8230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83126" y="3000375"/>
            <a:ext cx="4899273" cy="2305050"/>
          </a:xfrm>
          <a:prstGeom prst="roundRect">
            <a:avLst>
              <a:gd name="adj" fmla="val 8264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662362"/>
            <a:ext cx="5216276" cy="1371451"/>
          </a:xfrm>
          <a:prstGeom prst="roundRect">
            <a:avLst>
              <a:gd name="adj" fmla="val 97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51" y="370046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351" y="4052887"/>
            <a:ext cx="1905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351" y="4624387"/>
            <a:ext cx="1333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590550"/>
            <a:ext cx="119494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WEEK 6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Arrays: 1-D &amp; 2-D Transaction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Storing and analyzing multiple transactions across accounts using array grids.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271837"/>
            <a:ext cx="68463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2-D Ledger Matrix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852862"/>
            <a:ext cx="4930526" cy="990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60A5FA"/>
                </a:solidFill>
                <a:latin typeface="Fira Code"/>
              </a:rPr>
              <a:t>double[][]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ledger = </a:t>
            </a:r>
            <a:r>
              <a:rPr b="0" sz="975" i="0" u="none">
                <a:solidFill>
                  <a:srgbClr val="F43F5E"/>
                </a:solidFill>
                <a:latin typeface="Fira Code"/>
              </a:rPr>
              <a:t>new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double[50][4];</a:t>
            </a:r>
            <a:r>
              <a:t>
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// Rows = Transactions, Cols = [ID, Type, Amt, Balance]</a:t>
            </a:r>
            <a:r>
              <a:t>
</a:t>
            </a:r>
            <a:r>
              <a:rPr b="0" sz="975" i="0" u="none">
                <a:solidFill>
                  <a:srgbClr val="F43F5E"/>
                </a:solidFill>
                <a:latin typeface="Fira Code"/>
              </a:rPr>
              <a:t>for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(</a:t>
            </a:r>
            <a:r>
              <a:rPr b="0" sz="975" i="0" u="none">
                <a:solidFill>
                  <a:srgbClr val="60A5FA"/>
                </a:solidFill>
                <a:latin typeface="Fira Code"/>
              </a:rPr>
              <a:t>int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i = 0; i &lt; ledger.length; i++)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  processTransactionRow(ledger[i]);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Fira Code"/>
              </a:rPr>
              <a:t>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9351" y="3276600"/>
            <a:ext cx="52326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Array Pattern Utility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9351" y="3667125"/>
            <a:ext cx="5232648" cy="219075"/>
          </a:xfrm>
          <a:prstGeom prst="rect">
            <a:avLst/>
          </a:prstGeom>
          <a:noFill/>
        </p:spPr>
        <p:txBody>
          <a:bodyPr wrap="none" lIns="10382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Find specific transaction ID instantly.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9351" y="4019550"/>
            <a:ext cx="4442073" cy="438150"/>
          </a:xfrm>
          <a:prstGeom prst="rect">
            <a:avLst/>
          </a:prstGeom>
          <a:noFill/>
        </p:spPr>
        <p:txBody>
          <a:bodyPr wrap="square" lIns="130492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Identify maximum deposit or withdrawal.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351" y="4591050"/>
            <a:ext cx="4442073" cy="438150"/>
          </a:xfrm>
          <a:prstGeom prst="rect">
            <a:avLst/>
          </a:prstGeom>
          <a:noFill/>
        </p:spPr>
        <p:txBody>
          <a:bodyPr wrap="square" lIns="13906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Total count of monthly debits and credits.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1740247" cy="266700"/>
          </a:xfrm>
          <a:prstGeom prst="roundRect">
            <a:avLst>
              <a:gd name="adj" fmla="val 50000"/>
            </a:avLst>
          </a:prstGeom>
          <a:solidFill>
            <a:srgbClr val="D9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81362"/>
            <a:ext cx="3219450" cy="1743075"/>
          </a:xfrm>
          <a:prstGeom prst="roundRect">
            <a:avLst>
              <a:gd name="adj" fmla="val 10928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86275" y="3281362"/>
            <a:ext cx="3219450" cy="1743075"/>
          </a:xfrm>
          <a:prstGeom prst="roundRect">
            <a:avLst>
              <a:gd name="adj" fmla="val 10928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62950" y="3281362"/>
            <a:ext cx="3219450" cy="1743075"/>
          </a:xfrm>
          <a:prstGeom prst="roundRect">
            <a:avLst>
              <a:gd name="adj" fmla="val 10928"/>
            </a:avLst>
          </a:prstGeom>
          <a:solidFill>
            <a:srgbClr val="FEFEFE"/>
          </a:solidFill>
          <a:ln w="9525">
            <a:solidFill>
              <a:srgbClr val="F9FB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650" y="4038600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4325" y="403860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925" y="3605212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650" y="3605212"/>
            <a:ext cx="2667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1225" y="3605212"/>
            <a:ext cx="3429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950" y="590550"/>
            <a:ext cx="156879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SYSTEM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95250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Complete Banking 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457325"/>
            <a:ext cx="11582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How all weekly modules unite into a professional financial software tool.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106" y="4052887"/>
            <a:ext cx="3500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Weeks 1–2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4348162"/>
            <a:ext cx="333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Problem spec, typed variables, and currency intake shell.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5781" y="4052887"/>
            <a:ext cx="3500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Weeks 3–4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9125" y="4348162"/>
            <a:ext cx="333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Plus Jakarta Sans"/>
              </a:rPr>
              <a:t>Selection guards &amp; sentinel menu loop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2456" y="4052887"/>
            <a:ext cx="3500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Weeks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4348162"/>
            <a:ext cx="3333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Plus Jakarta Sans"/>
              </a:rPr>
              <a:t>Modular methods &amp; 2-D transaction history arrays.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F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10300" y="685800"/>
            <a:ext cx="4762500" cy="47625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72720" y="2095500"/>
            <a:ext cx="1046410" cy="266700"/>
          </a:xfrm>
          <a:prstGeom prst="roundRect">
            <a:avLst>
              <a:gd name="adj" fmla="val 50000"/>
            </a:avLst>
          </a:prstGeom>
          <a:solidFill>
            <a:srgbClr val="1F3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738562" y="4143375"/>
            <a:ext cx="4714875" cy="619125"/>
          </a:xfrm>
          <a:prstGeom prst="roundRect">
            <a:avLst>
              <a:gd name="adj" fmla="val 30769"/>
            </a:avLst>
          </a:prstGeom>
          <a:solidFill>
            <a:srgbClr val="1B2638"/>
          </a:solidFill>
          <a:ln w="9525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087" y="4381500"/>
            <a:ext cx="17145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63195" y="2152650"/>
            <a:ext cx="106546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0A5FA"/>
                </a:solidFill>
                <a:latin typeface="Plus Jakarta San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2514600"/>
            <a:ext cx="100012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3286125"/>
            <a:ext cx="952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Personal Bank Ledger and Statement • Successfully Engineered by Rithvika &amp; KrishnaShree.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7359" y="4343400"/>
            <a:ext cx="4917281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60A5FA"/>
                </a:solidFill>
                <a:latin typeface="Plus Jakarta Sans"/>
              </a:rPr>
              <a:t>All course modules demonstrated &amp; 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