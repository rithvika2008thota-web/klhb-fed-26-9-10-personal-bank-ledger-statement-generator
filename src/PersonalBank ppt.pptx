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427288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Personal Bank Ledgers &amp; Statements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939282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student's guide to understanding, reading, and using your bank records to build a confident financial future.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14577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a Bank Statement?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4350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5723" y="2102545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Official Financial Record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523034"/>
            <a:ext cx="5682612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complete log of every transaction that occurred in your account — issued directly by your bank.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39238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75723" y="3451423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Shows the Full Picture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3871913"/>
            <a:ext cx="5682612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Deposits, withdrawals, fees, and your running account balance — all in one place.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74126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75723" y="4800302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Delivered Monthly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75723" y="5220791"/>
            <a:ext cx="5682612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Banks typically provide a new statement every 30 days, either by mail or through your online account portal.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317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Components of a Bank Statement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15456"/>
            <a:ext cx="3496877" cy="1819275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531" y="3223518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Account Number &amp; Period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69531" y="3644007"/>
            <a:ext cx="3080764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unique account ID and the exact date range the statement covers — usually one calendar month.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15456"/>
            <a:ext cx="3496877" cy="1819275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5416" y="3223518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Opening &amp; Closing Balance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55416" y="3644007"/>
            <a:ext cx="308076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much money was in your account at the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start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the month, and how much remains at the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end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15456"/>
            <a:ext cx="3496877" cy="1819275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1300" y="3223518"/>
            <a:ext cx="3080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Transaction List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1300" y="3644007"/>
            <a:ext cx="3080764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line-by-line record of every deposit and withdrawal — the heart of your statement.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8041"/>
            <a:ext cx="6920831" cy="39218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9411" y="717054"/>
            <a:ext cx="3537060" cy="1094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6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Understanding Ledger Entries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9411" y="1979910"/>
            <a:ext cx="3537060" cy="12118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62929" y="2167235"/>
            <a:ext cx="3086221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F6B6B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Debit — Money Going Out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262929" y="2590701"/>
            <a:ext cx="3086221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Withdrawals, purchases, ATM cash, and fees. Debits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decrease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your balance.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9411" y="3341688"/>
            <a:ext cx="3537060" cy="12118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2929" y="3529013"/>
            <a:ext cx="3086221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4ECDC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Credit — Money Coming In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8262929" y="3952478"/>
            <a:ext cx="3086221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Paychecks, refunds, and interest earned. Credits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increase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your balance.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9411" y="4703465"/>
            <a:ext cx="3537060" cy="14187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2929" y="4890790"/>
            <a:ext cx="3086221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 Entry Has Three Parts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8262929" y="5314255"/>
            <a:ext cx="3086221" cy="620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Date, description of the transaction, and the dollar amount — always logged in order.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018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Reading Transaction Details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72469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row in your statement tells a story. Here's how to decode it: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30760"/>
          <a:ext cx="9143771" cy="914400"/>
        </p:xfrm>
        <a:graphic>
          <a:graphicData uri="http://schemas.openxmlformats.org/drawingml/2006/table">
            <a:tbl>
              <a:tblPr/>
              <a:tblGrid>
                <a:gridCol w="2173749"/>
                <a:gridCol w="3260624"/>
                <a:gridCol w="2717186"/>
                <a:gridCol w="2717186"/>
              </a:tblGrid>
              <a:tr h="4883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Date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Description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Amount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Balance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6B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Oct 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Opening Balance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$1,200.00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Oct 3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Paycheck Deposit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+$850.00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$2,050.00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Oct 5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Grocery Store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–$62.40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$1,987.60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Oct 9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Netflix Subscription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–$15.99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$1,971.61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Oct 14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ATM Withdrawal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–$40.00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$1,931.61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83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Oct 31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Closing Balance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$1,931.61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907289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398806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890324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381841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873359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5364876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455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Tracking Income &amp; Expenses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4913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1299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Categorize?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77393"/>
            <a:ext cx="520379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Grouping transactions into categories reveals where your money actually goes — often surprising!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138785"/>
            <a:ext cx="5203794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Groceries &amp; utilities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essential, predictable costs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Entertainment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easy to overspend without noticing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Savings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treat it like a non-negotiable expense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32776" y="4220567"/>
            <a:ext cx="5203794" cy="925909"/>
          </a:xfrm>
          <a:prstGeom prst="roundRect">
            <a:avLst>
              <a:gd name="adj" fmla="val 8574"/>
            </a:avLst>
          </a:prstGeom>
          <a:solidFill>
            <a:srgbClr val="002A8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475559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7024" y="4437856"/>
            <a:ext cx="440053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historical spending data from your statements to set realistic monthly budgets for each category.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27199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Keep a Personal Ledger?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439194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2439194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Catch Errors Early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42062" y="2859683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Spot unauthorized transactions or bank mistakes before they become bigger problems.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729037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3729037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Track Financial Goals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942062" y="4149527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See your savings grow over time and stay motivated toward milestones like a car or trip.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018881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5018881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Accurate Records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42062" y="5439370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clean documentation for tax season, financial aid applications, or rental agreements.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455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Common Bank Fees to Watch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4913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1299"/>
            <a:ext cx="520379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Don't Let Fees Drain You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77393"/>
            <a:ext cx="520379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 fees can quietly eat into your balance month after month. Know what to watch for: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138785"/>
            <a:ext cx="5203794" cy="1606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Overdraft fees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($35 avg.) — triggered when your balance goes negative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Monthly maintenance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often waived with a minimum balance or direct deposit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ATM fees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use your bank's network or choose a fee-free account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4914999"/>
            <a:ext cx="5203794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Reading your statement regularly is the best way to catch these charges fast.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5163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Tips for Smart Banking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74578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3232745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3378002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Review Statements Monthly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798491"/>
            <a:ext cx="3496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Set a recurring reminder each month to open your statement and scan every transaction for accuracy.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974578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47359" y="3232745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9" name="Text 5"/>
          <p:cNvSpPr/>
          <p:nvPr/>
        </p:nvSpPr>
        <p:spPr>
          <a:xfrm>
            <a:off x="4347359" y="3378002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Keep Your Receipts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47359" y="3798491"/>
            <a:ext cx="3496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Match physical or digital receipts against your bank statement — discrepancies can signal fraud or errors.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974578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33244" y="3232745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3" name="Text 8"/>
          <p:cNvSpPr/>
          <p:nvPr/>
        </p:nvSpPr>
        <p:spPr>
          <a:xfrm>
            <a:off x="8033244" y="3378002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Set Up Account Alerts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33244" y="3798491"/>
            <a:ext cx="3496877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banks let you set automatic notifications for large withdrawals, low balances, or unusual activity — turn them on!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68623"/>
            <a:ext cx="6296860" cy="1036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Start Your Financial Journey Today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807071"/>
            <a:ext cx="6296860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300" b="1" spc="-8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Knowledge is your greatest financial tool.</a:t>
            </a:r>
            <a:endParaRPr lang="en-US" sz="4300" dirty="0"/>
          </a:p>
        </p:txBody>
      </p:sp>
      <p:sp>
        <p:nvSpPr>
          <p:cNvPr id="5" name="Shape 2"/>
          <p:cNvSpPr/>
          <p:nvPr/>
        </p:nvSpPr>
        <p:spPr>
          <a:xfrm>
            <a:off x="661475" y="3439418"/>
            <a:ext cx="6296860" cy="2501305"/>
          </a:xfrm>
          <a:prstGeom prst="roundRect">
            <a:avLst>
              <a:gd name="adj" fmla="val 267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0524" y="3458468"/>
            <a:ext cx="3129380" cy="1422598"/>
          </a:xfrm>
          <a:custGeom>
            <a:avLst/>
            <a:gdLst/>
            <a:ahLst/>
            <a:cxnLst/>
            <a:rect l="l" t="t" r="r" b="b"/>
            <a:pathLst>
              <a:path w="3129380" h="1422598">
                <a:moveTo>
                  <a:pt x="55820" y="0"/>
                </a:moveTo>
                <a:lnTo>
                  <a:pt x="3129380" y="0"/>
                </a:lnTo>
                <a:lnTo>
                  <a:pt x="3129380" y="1422598"/>
                </a:lnTo>
                <a:lnTo>
                  <a:pt x="0" y="1422598"/>
                </a:lnTo>
                <a:lnTo>
                  <a:pt x="0" y="55821"/>
                </a:lnTo>
                <a:arcTo hR="55821" wR="55820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7" name="Text 4"/>
          <p:cNvSpPr/>
          <p:nvPr/>
        </p:nvSpPr>
        <p:spPr>
          <a:xfrm>
            <a:off x="839965" y="3617912"/>
            <a:ext cx="281049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39965" y="3957638"/>
            <a:ext cx="2810499" cy="7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 your bank statements and ledger entries with confidence — you now know exactly what every line means.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809905" y="3458468"/>
            <a:ext cx="3129380" cy="1422598"/>
          </a:xfrm>
          <a:custGeom>
            <a:avLst/>
            <a:gdLst/>
            <a:ahLst/>
            <a:cxnLst/>
            <a:rect l="l" t="t" r="r" b="b"/>
            <a:pathLst>
              <a:path w="3129380" h="1422598">
                <a:moveTo>
                  <a:pt x="0" y="0"/>
                </a:moveTo>
                <a:lnTo>
                  <a:pt x="3073561" y="0"/>
                </a:lnTo>
                <a:arcTo hR="55821" wR="55820" stAng="16200000" swAng="5400000"/>
                <a:lnTo>
                  <a:pt x="3129380" y="1422598"/>
                </a:lnTo>
                <a:lnTo>
                  <a:pt x="0" y="1422598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3458468"/>
            <a:ext cx="19050" cy="1422598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1" name="Text 8"/>
          <p:cNvSpPr/>
          <p:nvPr/>
        </p:nvSpPr>
        <p:spPr>
          <a:xfrm>
            <a:off x="3969345" y="3617912"/>
            <a:ext cx="281049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Track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3969345" y="3957638"/>
            <a:ext cx="2810499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Categorize your spending, spot patterns, and hold yourself accountable every single month.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0524" y="4881066"/>
            <a:ext cx="6258761" cy="1040606"/>
          </a:xfrm>
          <a:custGeom>
            <a:avLst/>
            <a:gdLst/>
            <a:ahLst/>
            <a:cxnLst/>
            <a:rect l="l" t="t" r="r" b="b"/>
            <a:pathLst>
              <a:path w="6258761" h="1040606">
                <a:moveTo>
                  <a:pt x="0" y="0"/>
                </a:moveTo>
                <a:lnTo>
                  <a:pt x="6258761" y="0"/>
                </a:lnTo>
                <a:lnTo>
                  <a:pt x="6258761" y="984785"/>
                </a:lnTo>
                <a:arcTo hR="55821" wR="55820" stAng="0" swAng="5400000"/>
                <a:lnTo>
                  <a:pt x="55820" y="1040606"/>
                </a:lnTo>
                <a:arcTo hR="55821" wR="55820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4" name="Shape 11"/>
          <p:cNvSpPr/>
          <p:nvPr/>
        </p:nvSpPr>
        <p:spPr>
          <a:xfrm>
            <a:off x="680524" y="4881066"/>
            <a:ext cx="625876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5" name="Text 12"/>
          <p:cNvSpPr/>
          <p:nvPr/>
        </p:nvSpPr>
        <p:spPr>
          <a:xfrm>
            <a:off x="839965" y="5040511"/>
            <a:ext cx="593988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Build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39965" y="5380236"/>
            <a:ext cx="5939880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your insights to budget wisely, avoid fees, and grow your savings toward the future you want.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6682" y="6092031"/>
            <a:ext cx="6906444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Financial literacy starts with one statement. Open yours today. </a:t>
            </a:r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💰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2026-09-21T08:25:05Z</dcterms:created>
  <dcterms:modified xsi:type="dcterms:W3CDTF">2026-09-21T08:25:05Z</dcterms:modified>
</cp:coreProperties>
</file>